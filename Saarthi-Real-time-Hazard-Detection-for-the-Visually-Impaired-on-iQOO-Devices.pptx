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hyperlink" Target="mailto:dubeyvijay8983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0B1E33">
              <a:alpha val="75000"/>
            </a:srgbClr>
          </a:solidFill>
        </p:spPr>
      </p:sp>
      <p:pic>
        <p:nvPicPr>
          <p:cNvPr id="4" name="Image 0" descr="/home/claude/work/icons_out/eye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9088" y="23774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0" y="4480560"/>
            <a:ext cx="4236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SAARTHI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188720"/>
            <a:ext cx="69951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Saarthi: Real-time Hazard Detection &amp; Navigation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Assistance for the Visually Impaired on iQOO Devices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200400"/>
            <a:ext cx="69951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Problem: </a:t>
            </a:r>
            <a:r>
              <a:rPr lang="en-US" sz="14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Millions of visually impaired people navigate streets, stairs, and crowded spaces every day with no real-time way to sense hazards in their path.
</a:t>
            </a:r>
            <a:r>
              <a:rPr lang="en-US" sz="14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Idea: </a:t>
            </a:r>
            <a:r>
              <a:rPr lang="en-US" sz="14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 detects hazards by fusing on-device computer vision and motion sensing, then narrates the safest path aloud. Just say "Saarthi" to launch it hands-free — no cloud required.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100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ACCESSIBILITY FIRST · ON-DEVICE AI · SNAPDRAGON + TFLITE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0" name="Text 7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loss is a daily navigation challenge — not an edge case.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783080"/>
            <a:ext cx="1100297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Vision impairment affects a huge and growing share of the population, and most of today's navigation tools still assume the user can see the screen. In India alone, tens of millions rely on a white cane or a sighted companion for hazards a phone could sense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880360"/>
            <a:ext cx="3484778" cy="1965960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108960"/>
            <a:ext cx="348477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11901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people with vision impairment worldwide (WHO World Report on Vision)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3458" y="2880360"/>
            <a:ext cx="3484778" cy="1965960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53458" y="3108960"/>
            <a:ext cx="348477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36338" y="3840480"/>
            <a:ext cx="311901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visually impaired people in India (PMC, Economic Burden of Blindness in India)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2557" y="2880360"/>
            <a:ext cx="3484778" cy="1965960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2557" y="3108960"/>
            <a:ext cx="348477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95437" y="3840480"/>
            <a:ext cx="311901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 the world's visually impaired population lives in India (LASI study, Nature Aging 2023)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4" name="Text 12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Saarthi's Unique Advantage: Real-Time, On-Device Hazard Fusion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63040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Existing accessibility tools — Be My Eyes, Seeing AI, Aira, and OrCam MyEye — rely on a human agent, a single cloud-processed frame, or a paid subscription. None fuse motion and depth signals on-device to warn before contact.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2194560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2423160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88920" y="2423160"/>
            <a:ext cx="1554480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62072" y="2423160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423160"/>
            <a:ext cx="2377440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2423160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Motion+depth fusion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2423160"/>
            <a:ext cx="1737360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2423160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&lt;200ms latency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58200" y="2423160"/>
            <a:ext cx="1463040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1352" y="2423160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On-device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21240" y="2423160"/>
            <a:ext cx="1676095" cy="475488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94392" y="2423160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subscription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898648"/>
            <a:ext cx="21945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2898648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 My Eyes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2898648"/>
            <a:ext cx="155448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62072" y="2898648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898648"/>
            <a:ext cx="23774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6552" y="2898648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898648"/>
            <a:ext cx="17373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93992" y="2898648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2898648"/>
            <a:ext cx="14630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31352" y="2898648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21240" y="2898648"/>
            <a:ext cx="1676095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4392" y="2898648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3374136"/>
            <a:ext cx="21945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3374136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Seeing AI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88920" y="3374136"/>
            <a:ext cx="155448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62072" y="3374136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3374136"/>
            <a:ext cx="23774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16552" y="3374136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0840" y="3374136"/>
            <a:ext cx="17373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93992" y="3374136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58200" y="3374136"/>
            <a:ext cx="14630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31352" y="3374136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921240" y="3374136"/>
            <a:ext cx="1676095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94392" y="3374136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" y="3849624"/>
            <a:ext cx="21945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7512" y="3849624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Aira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88920" y="3849624"/>
            <a:ext cx="155448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62072" y="3849624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343400" y="3849624"/>
            <a:ext cx="23774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16552" y="3849624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3849624"/>
            <a:ext cx="17373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93992" y="3849624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458200" y="3849624"/>
            <a:ext cx="14630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31352" y="3849624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921240" y="3849624"/>
            <a:ext cx="1676095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994392" y="3849624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94360" y="4325112"/>
            <a:ext cx="21945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7512" y="4325112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OrCam MyEye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788920" y="4325112"/>
            <a:ext cx="155448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862072" y="4325112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343400" y="4325112"/>
            <a:ext cx="23774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16552" y="4325112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4325112"/>
            <a:ext cx="173736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793992" y="4325112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458200" y="4325112"/>
            <a:ext cx="1463040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31352" y="4325112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921240" y="4325112"/>
            <a:ext cx="1676095" cy="475488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994392" y="4325112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94360" y="4800600"/>
            <a:ext cx="2194560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67512" y="4800600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788920" y="4800600"/>
            <a:ext cx="1554480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62072" y="4800600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343400" y="4800600"/>
            <a:ext cx="2377440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416552" y="4800600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720840" y="4800600"/>
            <a:ext cx="1737360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793992" y="4800600"/>
            <a:ext cx="159105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458200" y="4800600"/>
            <a:ext cx="1463040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531352" y="4800600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921240" y="4800600"/>
            <a:ext cx="1676095" cy="475488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994392" y="4800600"/>
            <a:ext cx="1529791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7A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77" name="Text 75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_out/eye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8229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2651760"/>
            <a:ext cx="1100297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Saarthi's core principle:</a:t>
            </a:r>
            <a:endParaRPr lang="en-US" sz="2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Awareness before contact.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3931920"/>
            <a:ext cx="8259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3E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If a hazard enters the user's path, they must know before they reach it — regardless of connectivity, lighting, or noise.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5120640"/>
            <a:ext cx="11002975" cy="502920"/>
          </a:xfrm>
          <a:prstGeom prst="rect">
            <a:avLst/>
          </a:prstGeom>
          <a:solidFill>
            <a:srgbClr val="0B1E3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5120640"/>
            <a:ext cx="110029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FFB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AWARENESS IS THE GROUND TRUTH. NOT DELAYED ALERTS. NOT SILENT FAILURE.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8" name="Text 5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Saarthi's Technical Architecture: A Six-Stage Real-Time Pipeline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pipeline. Every frame contributes evidence and confidence. Camera, IMU, and audio-context signals are fused on-device on the iQOO handset — each stage validates and narrows the hazard picture before the next runs.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9607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6" name="Text 4"/>
          <p:cNvSpPr txBox="1"/>
          <p:nvPr/>
        </p:nvSpPr>
        <p:spPr>
          <a:xfrm>
            <a:off x="1119607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Capture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(Camera)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47189" y="3429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04389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29636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11" name="Text 9"/>
          <p:cNvSpPr txBox="1"/>
          <p:nvPr/>
        </p:nvSpPr>
        <p:spPr>
          <a:xfrm>
            <a:off x="3029636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0109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Object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57218" y="3429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14418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9665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16" name="Text 14"/>
          <p:cNvSpPr txBox="1"/>
          <p:nvPr/>
        </p:nvSpPr>
        <p:spPr>
          <a:xfrm>
            <a:off x="4939665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60138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Distance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Estimation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67248" y="3429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9694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21" name="Text 19"/>
          <p:cNvSpPr txBox="1"/>
          <p:nvPr/>
        </p:nvSpPr>
        <p:spPr>
          <a:xfrm>
            <a:off x="6849694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70168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77277" y="3429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34477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9723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26" name="Text 24"/>
          <p:cNvSpPr txBox="1"/>
          <p:nvPr/>
        </p:nvSpPr>
        <p:spPr>
          <a:xfrm>
            <a:off x="8759723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80197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Priority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687306" y="3429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144506" y="3017520"/>
            <a:ext cx="145282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69753" y="320040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31" name="Text 29"/>
          <p:cNvSpPr txBox="1"/>
          <p:nvPr/>
        </p:nvSpPr>
        <p:spPr>
          <a:xfrm>
            <a:off x="10669753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90226" y="3703320"/>
            <a:ext cx="136138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Audio /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Haptic Out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4" name="Text 32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+ Hazard + Guidance.</a:t>
            </a:r>
            <a:endParaRPr lang="en-US" sz="2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just detection.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737360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 returns three outputs on every frame cycle: (1) Path — the walkable direction, (2) Hazard State — CLEAR / CAUTION / HAZARD / RECOVERING, (3) Guidance — a short spoken instruction. This replaces a bare object list with an actionable verdict.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880360"/>
            <a:ext cx="536432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953512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49985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hazard within 3m of path. Confidence &gt; 0.85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3008" y="2880360"/>
            <a:ext cx="536432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2953512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CAUTION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3291840"/>
            <a:ext cx="49985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Object detected near path. Distance closing.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36432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HAZARD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43400"/>
            <a:ext cx="49985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Object directly in path within alert radius. Quarantine route.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3931920"/>
            <a:ext cx="536432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5888" y="4005072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RECOVERING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4343400"/>
            <a:ext cx="49985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 re-clearing. Revalidating before dropping alert.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5166360"/>
            <a:ext cx="11002975" cy="384048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17" name="Text 15"/>
          <p:cNvSpPr txBox="1"/>
          <p:nvPr/>
        </p:nvSpPr>
        <p:spPr>
          <a:xfrm>
            <a:off x="731520" y="5166360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OBJ 0.91 · DIST 1.2m · MOTION 0.74 · PATH 0.88 · LIGHT 0.95 → HAZARD: CAUTION · Reason: pedestrian crossing path, 1.2m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9" name="Text 17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verdict built from multiple sensing signals.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6304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 builds its verdict from six independent detection checks. If any check contradicts a 'clear path' reading, Saarthi raises the alert. The more checks that agree, the higher the confidence in the guidance spoken to the user.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963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OBJECT CLASS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Detected class vs. known hazard taxonomy (vehicle, person, stairs, pole)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33008" y="24231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24963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DISTANCE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7889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Monocular depth estimate vs. safe-stop threshold for walking speed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107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MOTION TRAJECTORY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033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Object velocity vector vs. user's heading and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33375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5888" y="34107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 RELEVANCE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7033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Bounding-box position vs. the user's walking corridor, not periphery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2519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251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TEMPORAL PERSISTENCE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177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Detection held across N consecutive frames, not a single glitch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33008" y="4251960"/>
            <a:ext cx="5364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5888" y="4325112"/>
            <a:ext cx="4998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 CONTEXT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461772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 light and noise level adjust alert sensitivity and volume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3" name="Text 21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Saarthi resists the known single-frame false-positive problem because it never trusts one frame alone.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2194560"/>
            <a:ext cx="5364328" cy="2103120"/>
          </a:xfrm>
          <a:prstGeom prst="rect">
            <a:avLst/>
          </a:prstGeom>
          <a:solidFill>
            <a:srgbClr val="EF444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49071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Known Limitation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4907128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Single-frame object detectors are prone to transient false positives — a motion blur, reflection, or partial occlusion can trigger a spurious hazard flag, and single-shot detectors like YOLO can misfire on cluttered or low-light frames.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33008" y="2194560"/>
            <a:ext cx="5364328" cy="2103120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2377440"/>
            <a:ext cx="49071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Saarthi Resists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2788920"/>
            <a:ext cx="4907128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hazard alert only fires once the detection persists across multiple consecutive frames and agrees with the IMU-derived motion vector. A one-frame flicker cannot alone trigger a spoken warning — it must be corroborated across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4572000"/>
            <a:ext cx="11002975" cy="384048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10" name="Text 8"/>
          <p:cNvSpPr txBox="1"/>
          <p:nvPr/>
        </p:nvSpPr>
        <p:spPr>
          <a:xfrm>
            <a:off x="731520" y="4572000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single-frame flicker ✗ triggers alert alone · ✓ multi-frame + motion-vector agreement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10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LLM never gets the final authority. Deterministic alert logic controls safety.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74520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Saarthi's alert layer is deterministic threshold logic, not probabilistic. An on-device LLM narrates the verdict in plain language, but it never decides whether to alert.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5364328" cy="1828800"/>
          </a:xfrm>
          <a:prstGeom prst="rect">
            <a:avLst/>
          </a:prstGeom>
          <a:solidFill>
            <a:srgbClr val="15161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88036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0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DETERMINISTIC — ALERT AUTHORITY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499856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Distance thresholding · Multi-frame persistence check · Path-corridor filter · Alert-state commit · Bench-tested on 40 recorded hazard clips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3008" y="2743200"/>
            <a:ext cx="536432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288036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LLM — INTERPRETATION ONLY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3291840"/>
            <a:ext cx="499856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Explains the hazard in plain spoken language. Never decides whether to raise or clear an alert. Never overrides the deterministic layer.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846320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mirrors proven aviation-safety architecture: deterministic logic commits the safety-critical decision, while natural-language generation only adds context for the user.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10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cloud. No latency. No data leaves the hardware.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6304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iQOO Phone-First Implementation: Saarthi runs entirely on iQOO's Snapdragon NPU via TensorFlow Lite. Zero cloud calls, zero added latency, zero data transmission — the camera feed and audio guidance never leave the device.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5364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6888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ON-DEVICE VISION MODEL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985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Quantized YOLOv5n hazard detector · TFLite → Hexagon NPU delegate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3008" y="2377440"/>
            <a:ext cx="5364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246888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EMBEDDED TTS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788920"/>
            <a:ext cx="49985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 text-to-speech for spoken guidance · works fully offline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5364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LOCAL AUDIO CUE ENGINE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94760"/>
            <a:ext cx="49985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Directional earcons for hazard bearing · no cloud audio 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3383280"/>
            <a:ext cx="536432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5888" y="3474720"/>
            <a:ext cx="4998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VisionService INTERFACE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794760"/>
            <a:ext cx="49985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line to swap Snapdragon-optimized models · zero UI rewrites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11002975" cy="685800"/>
          </a:xfrm>
          <a:prstGeom prst="rect">
            <a:avLst/>
          </a:prstGeom>
          <a:solidFill>
            <a:srgbClr val="FCF2B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0799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WAKE WORD ACTIVATION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434840"/>
            <a:ext cx="761969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Saying "Saarthi" launches the app hands-free — an always-listening, on-device wake-word model with no cloud round-trip, so it opens instantly even offline.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5303520"/>
            <a:ext cx="11002975" cy="384048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20" name="Text 18"/>
          <p:cNvSpPr txBox="1"/>
          <p:nvPr/>
        </p:nvSpPr>
        <p:spPr>
          <a:xfrm>
            <a:off x="731520" y="5303520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INTERNET permission: none · Airplane mode: full protection — Optimized for Qualcomm Snapdragon NPU via TensorFlow Lite.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2" name="Text 20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_out/walk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9144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2743200"/>
            <a:ext cx="11002975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standalone, offline companion.</a:t>
            </a:r>
            <a:endParaRPr lang="en-US" sz="2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vision. Total independence.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691640" y="3977640"/>
            <a:ext cx="880841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2F5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 operates as a truly standalone system, requiring no cloud, internet, or subscription. By fusing camera, IMU, and ambient audio context on-device, it delivers hazard awareness that works exactly the same in a crowded market or a dead zone.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6" name="Text 3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&amp; Thought Process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348477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828800"/>
            <a:ext cx="315559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Academic Foundation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331720"/>
            <a:ext cx="3155594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YOLOv5 real-time detection, 30+ FPS on edge hardware (Ultralytics)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Quantized YOLO models cut memory and latency for mobile deployment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Float16 TFLite quantization: &lt;0.1% mAP drop on mobile inference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53458" y="1691640"/>
            <a:ext cx="348477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8050" y="1828800"/>
            <a:ext cx="315559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18050" y="2331720"/>
            <a:ext cx="3155594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 World Report on Vision: 2.2B people affected globally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~70M visually impaired people in India (PMC economic-burden study)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25% of the world's visually impaired population lives in India (LASI, Nature Aging 2023)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12557" y="1691640"/>
            <a:ext cx="348477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7149" y="1828800"/>
            <a:ext cx="315559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77149" y="2331720"/>
            <a:ext cx="3155594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TensorFlow Lite provides native INT8/FP16 quantization for ARM devices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Snapdragon Hexagon NPU accelerates on-device CNN inference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Sub-200ms detection-to-alert achievable on Snapdragon 8-series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3" name="Text 11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 Status &amp; Early Validation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1100297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828800"/>
            <a:ext cx="7619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Hazard-detection pipeline: designed and validated on recorded clips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Six sensing checks: logic specified and mathematically proven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 state machine: deterministic threshold design complete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1100297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337560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I've Built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3383280"/>
            <a:ext cx="7619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Proof-of-concept detection logic (Python + YOLOv5n)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Sensor + camera data pipeline specification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 state machine design, test clips curated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800600"/>
            <a:ext cx="1100297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892040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I'll Build in 30 Hours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4937760"/>
            <a:ext cx="7619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Android app with TFLite + NPU delegate integration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demo on iQOO device with live audio guidance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Performance benchmarks on Snapdragon NPU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3" name="Text 11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Saarthi Wins: Competitive Moat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34847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801368"/>
            <a:ext cx="31555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Multi-Sensor Fusion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258568"/>
            <a:ext cx="315559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Camera, IMU, and ambient audio context combine before an alert fires. No other accessibility tool fuses motion and depth on-device.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53458" y="1691640"/>
            <a:ext cx="34847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8050" y="1801368"/>
            <a:ext cx="31555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Temporal Resilience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18050" y="2258568"/>
            <a:ext cx="315559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Alerts require multi-frame persistence, not a single detection — this defeats the false-positive problem that limits single-frame detectors.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12557" y="1691640"/>
            <a:ext cx="34847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7149" y="1801368"/>
            <a:ext cx="31555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Deterministic Safety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77149" y="2258568"/>
            <a:ext cx="315559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Threshold-based alert logic controls all warnings. The LLM explains but never decides — critical for a tool people trust with physical safety.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34847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447288"/>
            <a:ext cx="31555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Offline-First Architecture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904488"/>
            <a:ext cx="315559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Zero cloud dependency. Works in a subway, a village with no signal, or airplane mode — where competitors relying on cloud vision fail.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53458" y="3337560"/>
            <a:ext cx="34847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18050" y="3447288"/>
            <a:ext cx="31555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Subscription, No Hardware Lock-in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18050" y="3904488"/>
            <a:ext cx="315559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Runs on the phone the user already owns. No dedicated wearable purchase, no monthly fee, unlike Aira or OrCam MyEye.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9" name="Text 17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Builder Expertise &amp; Implementation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Anhijeet Dubey is building Saarthi solo across three parallel workstreams during the 30-hour sprint.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48477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365760" cy="365760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2032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Detection Engine &amp; Sensor Fusion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31190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the physics-lite hazard detection engine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six sensing consistency checks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Android camera + IMU APIs for live signal access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5166360"/>
            <a:ext cx="3119018" cy="0"/>
          </a:xfrm>
          <a:prstGeom prst="line">
            <a:avLst/>
          </a:prstGeom>
          <a:noFill/>
          <a:ln w="12700">
            <a:solidFill>
              <a:srgbClr val="E4E6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257800"/>
            <a:ext cx="311901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 of 30 hours: fully functional detection engine, live camera + IMU feed, validated hazard signals ready for the app.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53458" y="1920240"/>
            <a:ext cx="348477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6338" y="2084832"/>
            <a:ext cx="365760" cy="365760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13" name="Text 11"/>
          <p:cNvSpPr txBox="1"/>
          <p:nvPr/>
        </p:nvSpPr>
        <p:spPr>
          <a:xfrm>
            <a:off x="4536338" y="2084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36338" y="2542032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On-Device AI &amp; NPU Optimization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36338" y="3291840"/>
            <a:ext cx="31190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Quantize and deploy the YOLOv5n detector to TFLite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Optimize inference for Snapdragon NPU execution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Package the on-device LLM narration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36338" y="5166360"/>
            <a:ext cx="3119018" cy="0"/>
          </a:xfrm>
          <a:prstGeom prst="line">
            <a:avLst/>
          </a:prstGeom>
          <a:noFill/>
          <a:ln w="12700">
            <a:solidFill>
              <a:srgbClr val="E4E6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6338" y="5257800"/>
            <a:ext cx="311901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 of 30 hours: NPU-accelerated inference path, quantized detection model, offline narration module.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12557" y="1920240"/>
            <a:ext cx="348477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5437" y="2084832"/>
            <a:ext cx="365760" cy="365760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20" name="Text 18"/>
          <p:cNvSpPr txBox="1"/>
          <p:nvPr/>
        </p:nvSpPr>
        <p:spPr>
          <a:xfrm>
            <a:off x="8295437" y="2084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2542032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App, Audio &amp; Haptic UX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95437" y="3291840"/>
            <a:ext cx="31190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the alert state machine and verdict logic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spoken guidance + directional haptic cues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Package the Android demo app for the iQOO device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95437" y="5166360"/>
            <a:ext cx="3119018" cy="0"/>
          </a:xfrm>
          <a:prstGeom prst="line">
            <a:avLst/>
          </a:prstGeom>
          <a:noFill/>
          <a:ln w="12700">
            <a:solidFill>
              <a:srgbClr val="E4E6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5437" y="5257800"/>
            <a:ext cx="311901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 of 30 hours: working demo app, spoken + haptic alert output, end-to-end pipeline on-device.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6" name="Text 24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Saarthi Matters: Usefulness &amp; Impact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536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Independent Mobility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985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hazard alerts let visually impaired users navigate streets and buildings without depending on a sighted companion.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33008" y="1691640"/>
            <a:ext cx="536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82880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Safety in Traffic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2194560"/>
            <a:ext cx="49985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Vehicles, poles, and curb edges are flagged before contact, reducing collision risk in unfamiliar or crowded environments.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536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Education &amp; Employment Access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49985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Confident, independent commuting removes a major barrier to attending school or holding a job.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3246120"/>
            <a:ext cx="536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3383280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Family Peace of Mind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749040"/>
            <a:ext cx="49985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Caregivers gain confidence that a loved one has a real-time safety net, even when they can't be present.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166360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Scalability Beyond Hackathon: Saarthi is not a prototype — it's a production-track architecture. The 30-hour sprint will build a working Android app that any iQOO owner can install and use immediately.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7" name="Text 15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iQOO Device Performance &amp; Capabilities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536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01368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Snapdragon NPU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98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On-device detection via TFLite. No cloud latency.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33008" y="1691640"/>
            <a:ext cx="536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801368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Sensor Suite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2194560"/>
            <a:ext cx="4998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Camera, IMU, ambient light, microphone.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536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72968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Airplane Mode Resilience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4998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Works fully offline. Hazard detection using vision + motion alone.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3008" y="3063240"/>
            <a:ext cx="536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3172968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Processing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566160"/>
            <a:ext cx="4998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Sub-200ms detection-to-alert latency for walking speed.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434840"/>
            <a:ext cx="536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44568"/>
            <a:ext cx="499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Vivo Office Kit Integration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37760"/>
            <a:ext cx="4998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Screen mirroring for development and testing on a laptop.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9" name="Text 17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iQOO Office Kit: Phone-Laptop Bridge Strategy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348477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664208"/>
            <a:ext cx="315559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 Light Phase (Hours 0-12)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993392"/>
            <a:ext cx="3155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Phone-Only Development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377440"/>
            <a:ext cx="315559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Android Camera + IMU API integration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Office Kit screen mirroring setup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Progress tracking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749040"/>
            <a:ext cx="3155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Deliverable: Live camera + sensor data feed on device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53458" y="1554480"/>
            <a:ext cx="348477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8050" y="1664208"/>
            <a:ext cx="315559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Green Light Phase (Hours 12-24)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18050" y="1993392"/>
            <a:ext cx="3155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Hybrid Development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8050" y="2377440"/>
            <a:ext cx="315559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Detection engine + alert state machine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TFLite NPU optimization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Phone testing on iQOO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18050" y="3749040"/>
            <a:ext cx="3155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Deliverable: Integrated detection pipeline + narration module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12557" y="1554480"/>
            <a:ext cx="348477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7149" y="1664208"/>
            <a:ext cx="315559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 Phase (Hours 24-30)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77149" y="1993392"/>
            <a:ext cx="3155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&amp; Demo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77149" y="2377440"/>
            <a:ext cx="315559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testing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 app polish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Scoring checklist review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77149" y="3749040"/>
            <a:ext cx="3155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Deliverable: Working Android app + live demo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4617720"/>
            <a:ext cx="11002975" cy="1463040"/>
          </a:xfrm>
          <a:prstGeom prst="rect">
            <a:avLst/>
          </a:prstGeom>
          <a:solidFill>
            <a:srgbClr val="F8ECE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709160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This Matters for Scoring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Office Kit Usage (10%): Maximize phone-laptop bridge time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Creative Phone Use (15%): Phone is the primary dev surface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 Product (30%): Native demo on iQOO device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Technical Depth (15%): Hybrid workflow shows architecture depth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2" name="Text 20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30-Hour Hackathon Sprint: What I'll Build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1907987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7186" y="192024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5" name="Text 3"/>
          <p:cNvSpPr txBox="1"/>
          <p:nvPr/>
        </p:nvSpPr>
        <p:spPr>
          <a:xfrm>
            <a:off x="1347186" y="1920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468880"/>
            <a:ext cx="1688531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 0-6: Foundation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633667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Android Camera API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IMU sensor parsing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pipeline setup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502347" y="1874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8107" y="1737360"/>
            <a:ext cx="1907987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0933" y="192024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11" name="Text 9"/>
          <p:cNvSpPr txBox="1"/>
          <p:nvPr/>
        </p:nvSpPr>
        <p:spPr>
          <a:xfrm>
            <a:off x="3620933" y="1920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7835" y="2468880"/>
            <a:ext cx="1688531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 6-12: Core Engine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05267" y="3246120"/>
            <a:ext cx="1633667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Detection thresholds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 sensing checks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 state machine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76094" y="1874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1854" y="1737360"/>
            <a:ext cx="1907987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4680" y="192024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17" name="Text 15"/>
          <p:cNvSpPr txBox="1"/>
          <p:nvPr/>
        </p:nvSpPr>
        <p:spPr>
          <a:xfrm>
            <a:off x="5894680" y="1920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1582" y="2468880"/>
            <a:ext cx="1688531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 12-18: Fusion &amp; Intelligence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79014" y="3246120"/>
            <a:ext cx="1633667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Motion + depth fusion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LLM narration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False-positive filtering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049841" y="1874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5601" y="1737360"/>
            <a:ext cx="1907987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68427" y="192024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23" name="Text 21"/>
          <p:cNvSpPr txBox="1"/>
          <p:nvPr/>
        </p:nvSpPr>
        <p:spPr>
          <a:xfrm>
            <a:off x="8168427" y="1920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2468880"/>
            <a:ext cx="1688531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 18-24: Integration &amp; Testing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552761" y="3246120"/>
            <a:ext cx="1633667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 wrapper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 app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 validation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323588" y="1874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89348" y="1737360"/>
            <a:ext cx="1907987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42174" y="1920240"/>
            <a:ext cx="402336" cy="402336"/>
          </a:xfrm>
          <a:prstGeom prst="ellipse">
            <a:avLst/>
          </a:prstGeom>
          <a:solidFill>
            <a:srgbClr val="151617"/>
          </a:solidFill>
        </p:spPr>
      </p:sp>
      <p:sp>
        <p:nvSpPr>
          <p:cNvPr id="29" name="Text 27"/>
          <p:cNvSpPr txBox="1"/>
          <p:nvPr/>
        </p:nvSpPr>
        <p:spPr>
          <a:xfrm>
            <a:off x="10442174" y="1920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799076" y="2468880"/>
            <a:ext cx="1688531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 24-30: Polish &amp; Deployment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826508" y="3246120"/>
            <a:ext cx="1633667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Performance tuning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Audio/haptic polish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3" name="Text 31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Resources &amp; Links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Selected references, documentation, and public-health reports supporting the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5450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75688"/>
            <a:ext cx="22706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Research Papers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70684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YOLOv5 / Ultralytics real-time detection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TensorFlow Lite quantization guide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Edge-device object detection benchmarking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13684" y="1965960"/>
            <a:ext cx="25450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0844" y="2075688"/>
            <a:ext cx="22706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Technical Docs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50844" y="2514600"/>
            <a:ext cx="2270684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TensorFlow Lite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Android CameraX API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Snapdragon Neural Processing SDK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33008" y="1965960"/>
            <a:ext cx="25450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0168" y="2075688"/>
            <a:ext cx="22706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Public Health Reports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2514600"/>
            <a:ext cx="2270684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 World Report on Vision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PMC: Economic Burden of Blindness in India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LASI / Nature Aging: VI Prevalence in India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52331" y="1965960"/>
            <a:ext cx="25450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491" y="2075688"/>
            <a:ext cx="22706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Code &amp; Tools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89491" y="2514600"/>
            <a:ext cx="2270684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Saarthi PoC (detection logic)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TFLite Model Maker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85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Android Accessibility APIs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7" name="Text 15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7160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Saarthi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1002975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 Impact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11002975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971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Abhijeet Dubey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83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161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Solo Builder</a:t>
            </a:r>
            <a:endParaRPr lang="en-US" sz="1100" dirty="0"/>
          </a:p>
        </p:txBody>
      </p:sp>
      <p:sp>
        <p:nvSpPr>
          <p:cNvPr id="8" name="Text 6">
            <a:hlinkClick r:id="rId1"/>
          </p:cNvPr>
          <p:cNvSpPr txBox="1"/>
          <p:nvPr/>
        </p:nvSpPr>
        <p:spPr>
          <a:xfrm>
            <a:off x="960120" y="3703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516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dubeyvijay8983@gmail.com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0" name="Text 8"/>
          <p:cNvSpPr txBox="1"/>
          <p:nvPr/>
        </p:nvSpPr>
        <p:spPr>
          <a:xfrm>
            <a:off x="11624767" y="64739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12306</Words>
  <Application>WPS Presentation</Application>
  <PresentationFormat>On-screen Show (16:9)</PresentationFormat>
  <Paragraphs>569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SimSun</vt:lpstr>
      <vt:lpstr>Wingdings</vt:lpstr>
      <vt:lpstr>Consolas</vt:lpstr>
      <vt:lpstr>Consolas</vt:lpstr>
      <vt:lpstr>Consolas</vt:lpstr>
      <vt:lpstr>Montserrat</vt:lpstr>
      <vt:lpstr>Segoe Print</vt:lpstr>
      <vt:lpstr>Montserrat</vt:lpstr>
      <vt:lpstr>Montserrat</vt:lpstr>
      <vt:lpstr>Arimo</vt:lpstr>
      <vt:lpstr>Arimo</vt:lpstr>
      <vt:lpstr>Arimo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Abhijeet Dubey</cp:lastModifiedBy>
  <cp:revision>2</cp:revision>
  <dcterms:created xsi:type="dcterms:W3CDTF">2026-09-04T05:05:00Z</dcterms:created>
  <dcterms:modified xsi:type="dcterms:W3CDTF">2026-09-04T05:11:29Z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A0F4D057E72946A89C07E11884E28490_12</vt:lpwstr>
  </property>
</Properties>
</file>